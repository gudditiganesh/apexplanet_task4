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753bb02d-37c3-cdab-7f9d-c7f5392ba085}">
          <p14:sldIdLst>
            <p14:sldId id="256"/>
            <p14:sldId id="257"/>
          </p14:sldIdLst>
        </p14:section>
        <p14:section name="Data" id="{1ec1acfe-5a57-670b-01ef-af236885455d}">
          <p14:sldIdLst>
            <p14:sldId id="258"/>
            <p14:sldId id="259"/>
            <p14:sldId id="260"/>
          </p14:sldIdLst>
        </p14:section>
        <p14:section name="Analysis" id="{5939dc64-7131-16b5-6d02-d5c0ac0dfa61}">
          <p14:sldIdLst>
            <p14:sldId id="261"/>
            <p14:sldId id="262"/>
            <p14:sldId id="263"/>
            <p14:sldId id="264"/>
          </p14:sldIdLst>
        </p14:section>
        <p14:section name="Wrap-up" id="{056786a5-5e4f-76a7-2cef-da598c2fc46b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+mn-lt"/>
              </a:rPr>
              <a:t>Monthly revenue, 2025 (₹M)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F3A5F"/>
            </a:solidFill>
            <a:ln w="381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10.1</c:v>
                </c:pt>
                <c:pt idx="1">
                  <c:v>11.51</c:v>
                </c:pt>
                <c:pt idx="2">
                  <c:v>13.06</c:v>
                </c:pt>
                <c:pt idx="3">
                  <c:v>12.22</c:v>
                </c:pt>
                <c:pt idx="4">
                  <c:v>10.98</c:v>
                </c:pt>
                <c:pt idx="5">
                  <c:v>12.91</c:v>
                </c:pt>
                <c:pt idx="6">
                  <c:v>11.75</c:v>
                </c:pt>
                <c:pt idx="7">
                  <c:v>9.45</c:v>
                </c:pt>
                <c:pt idx="8">
                  <c:v>9.18</c:v>
                </c:pt>
                <c:pt idx="9">
                  <c:v>12.5</c:v>
                </c:pt>
                <c:pt idx="10">
                  <c:v>12.63</c:v>
                </c:pt>
                <c:pt idx="11">
                  <c:v>12.3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  <c:min val="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+mn-lt"/>
              </a:rPr>
              <a:t>Share of customers vs share of revenue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customers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Value</c:v>
                  </c:pt>
                  <c:pt idx="1">
                    <c:v>Mid Value</c:v>
                  </c:pt>
                  <c:pt idx="2">
                    <c:v>Low Value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20.1</c:v>
                </c:pt>
                <c:pt idx="1">
                  <c:v>39.9</c:v>
                </c:pt>
                <c:pt idx="2">
                  <c:v>40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of revenue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 Value</c:v>
                  </c:pt>
                  <c:pt idx="1">
                    <c:v>Mid Value</c:v>
                  </c:pt>
                  <c:pt idx="2">
                    <c:v>Low Value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47.6</c:v>
                </c:pt>
                <c:pt idx="1">
                  <c:v>41.3</c:v>
                </c:pt>
                <c:pt idx="2">
                  <c:v>11.1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+mn-lt"/>
              </a:rPr>
              <a:t>Revenue by category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A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Education</c:v>
                  </c:pt>
                  <c:pt idx="2">
                    <c:v>Grocery</c:v>
                  </c:pt>
                  <c:pt idx="3">
                    <c:v>Furniture</c:v>
                  </c:pt>
                  <c:pt idx="4">
                    <c:v>Fashion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50.8</c:v>
                </c:pt>
                <c:pt idx="1">
                  <c:v>25</c:v>
                </c:pt>
                <c:pt idx="2">
                  <c:v>22.2</c:v>
                </c:pt>
                <c:pt idx="3">
                  <c:v>21.5</c:v>
                </c:pt>
                <c:pt idx="4">
                  <c:v>19.8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2430"/>
                </a:solidFill>
                <a:latin typeface="+mn-lt"/>
              </a:rPr>
              <a:t>Revenue by city (₹M)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(₹M)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Patna</c:v>
                  </c:pt>
                  <c:pt idx="1">
                    <c:v>Kolkata</c:v>
                  </c:pt>
                  <c:pt idx="2">
                    <c:v>Bengaluru</c:v>
                  </c:pt>
                  <c:pt idx="3">
                    <c:v>Mumbai</c:v>
                  </c:pt>
                  <c:pt idx="4">
                    <c:v>Hyderabad</c:v>
                  </c:pt>
                  <c:pt idx="5">
                    <c:v>Delhi</c:v>
                  </c:pt>
                  <c:pt idx="6">
                    <c:v>Pune</c:v>
                  </c:pt>
                  <c:pt idx="7">
                    <c:v>Gaya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19.3</c:v>
                </c:pt>
                <c:pt idx="1">
                  <c:v>18.9</c:v>
                </c:pt>
                <c:pt idx="2">
                  <c:v>18.8</c:v>
                </c:pt>
                <c:pt idx="3">
                  <c:v>18.8</c:v>
                </c:pt>
                <c:pt idx="4">
                  <c:v>17.2</c:v>
                </c:pt>
                <c:pt idx="5">
                  <c:v>16.1</c:v>
                </c:pt>
                <c:pt idx="6">
                  <c:v>14.5</c:v>
                </c:pt>
                <c:pt idx="7">
                  <c:v>14.4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743200"/>
            <a:ext cx="1097280" cy="54864"/>
          </a:xfrm>
          <a:prstGeom prst="rect">
            <a:avLst/>
          </a:prstGeom>
          <a:solidFill>
            <a:schemeClr val="accent3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</a:rPr>
              <a:t>ApexPlanet Internship  |  Task 4: Data Storytelling &amp; Statistical Validation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From Data to Decisions: The 2025 Sales Story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Data Storytelling &amp; Statistical Validation  |  ApexPlanet Internship, Task 4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Business objective</a:t>
            </a:r>
            <a:endParaRPr lang="en-US" dirty="0"/>
          </a:p>
        </p:txBody>
      </p:sp>
      <p:sp>
        <p:nvSpPr>
          <p:cNvPr id="3" name="obj1 card"/>
          <p:cNvSpPr/>
          <p:nvPr/>
        </p:nvSpPr>
        <p:spPr>
          <a:xfrm>
            <a:off x="457200" y="118872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obj1 accent"/>
          <p:cNvSpPr/>
          <p:nvPr/>
        </p:nvSpPr>
        <p:spPr>
          <a:xfrm>
            <a:off x="457200" y="1188720"/>
            <a:ext cx="73152" cy="13716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obj1 value"/>
          <p:cNvSpPr txBox="1"/>
          <p:nvPr/>
        </p:nvSpPr>
        <p:spPr>
          <a:xfrm>
            <a:off x="685800" y="1261872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Understand</a:t>
            </a:r>
            <a:endParaRPr lang="en-US" sz="2400" dirty="0"/>
          </a:p>
        </p:txBody>
      </p:sp>
      <p:sp>
        <p:nvSpPr>
          <p:cNvPr id="6" name="obj1 label"/>
          <p:cNvSpPr txBox="1"/>
          <p:nvPr/>
        </p:nvSpPr>
        <p:spPr>
          <a:xfrm>
            <a:off x="685800" y="201168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Where does revenue come from: time, product, city, customer?</a:t>
            </a:r>
            <a:endParaRPr lang="en-US" sz="1200" dirty="0"/>
          </a:p>
        </p:txBody>
      </p:sp>
      <p:sp>
        <p:nvSpPr>
          <p:cNvPr id="7" name="obj2 card"/>
          <p:cNvSpPr/>
          <p:nvPr/>
        </p:nvSpPr>
        <p:spPr>
          <a:xfrm>
            <a:off x="3291840" y="118872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obj2 accent"/>
          <p:cNvSpPr/>
          <p:nvPr/>
        </p:nvSpPr>
        <p:spPr>
          <a:xfrm>
            <a:off x="3291840" y="1188720"/>
            <a:ext cx="73152" cy="13716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obj2 value"/>
          <p:cNvSpPr txBox="1"/>
          <p:nvPr/>
        </p:nvSpPr>
        <p:spPr>
          <a:xfrm>
            <a:off x="3520440" y="1261872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Validate</a:t>
            </a:r>
            <a:endParaRPr lang="en-US" sz="2400" dirty="0"/>
          </a:p>
        </p:txBody>
      </p:sp>
      <p:sp>
        <p:nvSpPr>
          <p:cNvPr id="10" name="obj2 label"/>
          <p:cNvSpPr txBox="1"/>
          <p:nvPr/>
        </p:nvSpPr>
        <p:spPr>
          <a:xfrm>
            <a:off x="3520440" y="201168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Is the Electronics advantage over Fashion statistically real?</a:t>
            </a:r>
            <a:endParaRPr lang="en-US" sz="1200" dirty="0"/>
          </a:p>
        </p:txBody>
      </p:sp>
      <p:sp>
        <p:nvSpPr>
          <p:cNvPr id="11" name="obj3 card"/>
          <p:cNvSpPr/>
          <p:nvPr/>
        </p:nvSpPr>
        <p:spPr>
          <a:xfrm>
            <a:off x="6126480" y="1188720"/>
            <a:ext cx="2560320" cy="1371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obj3 accent"/>
          <p:cNvSpPr/>
          <p:nvPr/>
        </p:nvSpPr>
        <p:spPr>
          <a:xfrm>
            <a:off x="6126480" y="1188720"/>
            <a:ext cx="73152" cy="137160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obj3 value"/>
          <p:cNvSpPr txBox="1"/>
          <p:nvPr/>
        </p:nvSpPr>
        <p:spPr>
          <a:xfrm>
            <a:off x="6355080" y="1261872"/>
            <a:ext cx="224028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Recommend</a:t>
            </a:r>
            <a:endParaRPr lang="en-US" sz="2400" dirty="0"/>
          </a:p>
        </p:txBody>
      </p:sp>
      <p:sp>
        <p:nvSpPr>
          <p:cNvPr id="14" name="obj3 label"/>
          <p:cNvSpPr txBox="1"/>
          <p:nvPr/>
        </p:nvSpPr>
        <p:spPr>
          <a:xfrm>
            <a:off x="6355080" y="2011680"/>
            <a:ext cx="224028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Which actions are supported by the evidence?</a:t>
            </a:r>
            <a:endParaRPr lang="en-US" sz="1200" dirty="0"/>
          </a:p>
        </p:txBody>
      </p:sp>
      <p:sp>
        <p:nvSpPr>
          <p:cNvPr id="15" name="Key question"/>
          <p:cNvSpPr txBox="1"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Key question: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Do Electronics orders generate significantly higher sales than Fashion orders?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Dataset overview</a:t>
            </a:r>
            <a:endParaRPr lang="en-US" dirty="0"/>
          </a:p>
        </p:txBody>
      </p:sp>
      <p:sp>
        <p:nvSpPr>
          <p:cNvPr id="3" name="ds0 card"/>
          <p:cNvSpPr/>
          <p:nvPr/>
        </p:nvSpPr>
        <p:spPr>
          <a:xfrm>
            <a:off x="457200" y="118872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s0 accent"/>
          <p:cNvSpPr/>
          <p:nvPr/>
        </p:nvSpPr>
        <p:spPr>
          <a:xfrm>
            <a:off x="457200" y="1188720"/>
            <a:ext cx="73152" cy="118872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ds0 value"/>
          <p:cNvSpPr txBox="1"/>
          <p:nvPr/>
        </p:nvSpPr>
        <p:spPr>
          <a:xfrm>
            <a:off x="685800" y="1261872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1,000</a:t>
            </a:r>
            <a:endParaRPr lang="en-US" sz="2400" dirty="0"/>
          </a:p>
        </p:txBody>
      </p:sp>
      <p:sp>
        <p:nvSpPr>
          <p:cNvPr id="6" name="ds0 label"/>
          <p:cNvSpPr txBox="1"/>
          <p:nvPr/>
        </p:nvSpPr>
        <p:spPr>
          <a:xfrm>
            <a:off x="685800" y="190195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orders (12 columns)</a:t>
            </a:r>
            <a:endParaRPr lang="en-US" sz="1200" dirty="0"/>
          </a:p>
        </p:txBody>
      </p:sp>
      <p:sp>
        <p:nvSpPr>
          <p:cNvPr id="7" name="ds1 card"/>
          <p:cNvSpPr/>
          <p:nvPr/>
        </p:nvSpPr>
        <p:spPr>
          <a:xfrm>
            <a:off x="2560320" y="118872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s1 accent"/>
          <p:cNvSpPr/>
          <p:nvPr/>
        </p:nvSpPr>
        <p:spPr>
          <a:xfrm>
            <a:off x="2560320" y="1188720"/>
            <a:ext cx="73152" cy="11887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ds1 value"/>
          <p:cNvSpPr txBox="1"/>
          <p:nvPr/>
        </p:nvSpPr>
        <p:spPr>
          <a:xfrm>
            <a:off x="2788920" y="1261872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947</a:t>
            </a:r>
            <a:endParaRPr lang="en-US" sz="2400" dirty="0"/>
          </a:p>
        </p:txBody>
      </p:sp>
      <p:sp>
        <p:nvSpPr>
          <p:cNvPr id="10" name="ds1 label"/>
          <p:cNvSpPr txBox="1"/>
          <p:nvPr/>
        </p:nvSpPr>
        <p:spPr>
          <a:xfrm>
            <a:off x="2788920" y="190195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customers</a:t>
            </a:r>
            <a:endParaRPr lang="en-US" sz="1200" dirty="0"/>
          </a:p>
        </p:txBody>
      </p:sp>
      <p:sp>
        <p:nvSpPr>
          <p:cNvPr id="11" name="ds2 card"/>
          <p:cNvSpPr/>
          <p:nvPr/>
        </p:nvSpPr>
        <p:spPr>
          <a:xfrm>
            <a:off x="4663440" y="118872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ds2 accent"/>
          <p:cNvSpPr/>
          <p:nvPr/>
        </p:nvSpPr>
        <p:spPr>
          <a:xfrm>
            <a:off x="4663440" y="1188720"/>
            <a:ext cx="73152" cy="118872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ds2 value"/>
          <p:cNvSpPr txBox="1"/>
          <p:nvPr/>
        </p:nvSpPr>
        <p:spPr>
          <a:xfrm>
            <a:off x="4892040" y="1261872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8</a:t>
            </a:r>
            <a:endParaRPr lang="en-US" sz="2400" dirty="0"/>
          </a:p>
        </p:txBody>
      </p:sp>
      <p:sp>
        <p:nvSpPr>
          <p:cNvPr id="14" name="ds2 label"/>
          <p:cNvSpPr txBox="1"/>
          <p:nvPr/>
        </p:nvSpPr>
        <p:spPr>
          <a:xfrm>
            <a:off x="4892040" y="190195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cities</a:t>
            </a:r>
            <a:endParaRPr lang="en-US" sz="1200" dirty="0"/>
          </a:p>
        </p:txBody>
      </p:sp>
      <p:sp>
        <p:nvSpPr>
          <p:cNvPr id="15" name="ds3 card"/>
          <p:cNvSpPr/>
          <p:nvPr/>
        </p:nvSpPr>
        <p:spPr>
          <a:xfrm>
            <a:off x="6766560" y="1188720"/>
            <a:ext cx="1920240" cy="11887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ds3 accent"/>
          <p:cNvSpPr/>
          <p:nvPr/>
        </p:nvSpPr>
        <p:spPr>
          <a:xfrm>
            <a:off x="6766560" y="1188720"/>
            <a:ext cx="73152" cy="118872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ds3 value"/>
          <p:cNvSpPr txBox="1"/>
          <p:nvPr/>
        </p:nvSpPr>
        <p:spPr>
          <a:xfrm>
            <a:off x="6995160" y="1261872"/>
            <a:ext cx="1600200" cy="653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6 / 5</a:t>
            </a:r>
            <a:endParaRPr lang="en-US" sz="2400" dirty="0"/>
          </a:p>
        </p:txBody>
      </p:sp>
      <p:sp>
        <p:nvSpPr>
          <p:cNvPr id="18" name="ds3 label"/>
          <p:cNvSpPr txBox="1"/>
          <p:nvPr/>
        </p:nvSpPr>
        <p:spPr>
          <a:xfrm>
            <a:off x="6995160" y="1901952"/>
            <a:ext cx="1600200" cy="4160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products / categories</a:t>
            </a:r>
            <a:endParaRPr lang="en-US" sz="1200" dirty="0"/>
          </a:p>
        </p:txBody>
      </p:sp>
      <p:sp>
        <p:nvSpPr>
          <p:cNvPr id="19" name="Dataset notes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Period: 1 Jan 2025 to 1 Jan 2026, one row per order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Fields: customer (ID, age, gender), city, product, category, quantity, unit price, total sales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Categories: Electronics (Laptop, Mobile), Education (Book), Fashion (Shoes), Furniture (Chair), Grocery (Rice)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Data cleaning summary</a:t>
            </a:r>
            <a:endParaRPr lang="en-US" dirty="0"/>
          </a:p>
        </p:txBody>
      </p:sp>
      <p:graphicFrame>
        <p:nvGraphicFramePr>
          <p:cNvPr id="5" name="Clean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Issue found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Records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Action taken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Missing 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Filled with the median age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Missing City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Labelled 'Unknown'; left out of city ranking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Order_ID ORD100050 reused for different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Kept (distinct orders) and flagged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Fully duplicated rows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None found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Total_Sales = Quantity × Unit_Price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1,000 of 1,000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Verified: no mismatches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Partial month (1 Jan 2026 only)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5 orders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</a:rPr>
                        <a:t>In totals; excluded from monthly trend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Key KPIs</a:t>
            </a:r>
            <a:endParaRPr lang="en-US" dirty="0"/>
          </a:p>
        </p:txBody>
      </p:sp>
      <p:sp>
        <p:nvSpPr>
          <p:cNvPr id="3" name="kpi0 card"/>
          <p:cNvSpPr/>
          <p:nvPr/>
        </p:nvSpPr>
        <p:spPr>
          <a:xfrm>
            <a:off x="457200" y="1143000"/>
            <a:ext cx="40233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kpi0 accent"/>
          <p:cNvSpPr/>
          <p:nvPr/>
        </p:nvSpPr>
        <p:spPr>
          <a:xfrm>
            <a:off x="457200" y="1143000"/>
            <a:ext cx="73152" cy="12344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kpi0 value"/>
          <p:cNvSpPr txBox="1"/>
          <p:nvPr/>
        </p:nvSpPr>
        <p:spPr>
          <a:xfrm>
            <a:off x="685800" y="1216152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₹139.4M</a:t>
            </a:r>
            <a:endParaRPr lang="en-US" sz="2400" dirty="0"/>
          </a:p>
        </p:txBody>
      </p:sp>
      <p:sp>
        <p:nvSpPr>
          <p:cNvPr id="6" name="kpi0 label"/>
          <p:cNvSpPr txBox="1"/>
          <p:nvPr/>
        </p:nvSpPr>
        <p:spPr>
          <a:xfrm>
            <a:off x="685800" y="1883664"/>
            <a:ext cx="3703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total revenue</a:t>
            </a:r>
            <a:endParaRPr lang="en-US" sz="1200" dirty="0"/>
          </a:p>
        </p:txBody>
      </p:sp>
      <p:sp>
        <p:nvSpPr>
          <p:cNvPr id="7" name="kpi1 card"/>
          <p:cNvSpPr/>
          <p:nvPr/>
        </p:nvSpPr>
        <p:spPr>
          <a:xfrm>
            <a:off x="4663440" y="1143000"/>
            <a:ext cx="40233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kpi1 accent"/>
          <p:cNvSpPr/>
          <p:nvPr/>
        </p:nvSpPr>
        <p:spPr>
          <a:xfrm>
            <a:off x="4663440" y="1143000"/>
            <a:ext cx="73152" cy="123444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kpi1 value"/>
          <p:cNvSpPr txBox="1"/>
          <p:nvPr/>
        </p:nvSpPr>
        <p:spPr>
          <a:xfrm>
            <a:off x="4892040" y="1216152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₹139.4K</a:t>
            </a:r>
            <a:endParaRPr lang="en-US" sz="2400" dirty="0"/>
          </a:p>
        </p:txBody>
      </p:sp>
      <p:sp>
        <p:nvSpPr>
          <p:cNvPr id="10" name="kpi1 label"/>
          <p:cNvSpPr txBox="1"/>
          <p:nvPr/>
        </p:nvSpPr>
        <p:spPr>
          <a:xfrm>
            <a:off x="4892040" y="1883664"/>
            <a:ext cx="3703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average order value</a:t>
            </a:r>
            <a:endParaRPr lang="en-US" sz="1200" dirty="0"/>
          </a:p>
        </p:txBody>
      </p:sp>
      <p:sp>
        <p:nvSpPr>
          <p:cNvPr id="11" name="kpi2 card"/>
          <p:cNvSpPr/>
          <p:nvPr/>
        </p:nvSpPr>
        <p:spPr>
          <a:xfrm>
            <a:off x="457200" y="2560320"/>
            <a:ext cx="40233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kpi2 accent"/>
          <p:cNvSpPr/>
          <p:nvPr/>
        </p:nvSpPr>
        <p:spPr>
          <a:xfrm>
            <a:off x="457200" y="2560320"/>
            <a:ext cx="73152" cy="123444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kpi2 value"/>
          <p:cNvSpPr txBox="1"/>
          <p:nvPr/>
        </p:nvSpPr>
        <p:spPr>
          <a:xfrm>
            <a:off x="685800" y="2633472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36%</a:t>
            </a:r>
            <a:endParaRPr lang="en-US" sz="2400" dirty="0"/>
          </a:p>
        </p:txBody>
      </p:sp>
      <p:sp>
        <p:nvSpPr>
          <p:cNvPr id="14" name="kpi2 label"/>
          <p:cNvSpPr txBox="1"/>
          <p:nvPr/>
        </p:nvSpPr>
        <p:spPr>
          <a:xfrm>
            <a:off x="685800" y="3300984"/>
            <a:ext cx="3703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revenue from Electronics</a:t>
            </a:r>
            <a:endParaRPr lang="en-US" sz="1200" dirty="0"/>
          </a:p>
        </p:txBody>
      </p:sp>
      <p:sp>
        <p:nvSpPr>
          <p:cNvPr id="15" name="kpi3 card"/>
          <p:cNvSpPr/>
          <p:nvPr/>
        </p:nvSpPr>
        <p:spPr>
          <a:xfrm>
            <a:off x="4663440" y="2560320"/>
            <a:ext cx="4023360" cy="12344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kpi3 accent"/>
          <p:cNvSpPr/>
          <p:nvPr/>
        </p:nvSpPr>
        <p:spPr>
          <a:xfrm>
            <a:off x="4663440" y="2560320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7" name="kpi3 value"/>
          <p:cNvSpPr txBox="1"/>
          <p:nvPr/>
        </p:nvSpPr>
        <p:spPr>
          <a:xfrm>
            <a:off x="4892040" y="2633472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5%</a:t>
            </a:r>
            <a:endParaRPr lang="en-US" sz="2400" dirty="0"/>
          </a:p>
        </p:txBody>
      </p:sp>
      <p:sp>
        <p:nvSpPr>
          <p:cNvPr id="18" name="kpi3 label"/>
          <p:cNvSpPr txBox="1"/>
          <p:nvPr/>
        </p:nvSpPr>
        <p:spPr>
          <a:xfrm>
            <a:off x="4892040" y="3300984"/>
            <a:ext cx="370332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customers ordered twice or more</a:t>
            </a:r>
            <a:endParaRPr lang="en-US" sz="1200" dirty="0"/>
          </a:p>
        </p:txBody>
      </p:sp>
      <p:sp>
        <p:nvSpPr>
          <p:cNvPr id="19" name="KPI footnote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Top city: Patna  |  Top product: Laptop  |  Median order: ₹108.6K  |  Units sold: 5,435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Sales trend: steady, with a late-summer dip</a:t>
            </a:r>
            <a:endParaRPr lang="en-US" dirty="0"/>
          </a:p>
        </p:txBody>
      </p:sp>
      <p:graphicFrame>
        <p:nvGraphicFramePr>
          <p:cNvPr id="3" name="Trend chart" descr=""/>
          <p:cNvGraphicFramePr/>
          <p:nvPr/>
        </p:nvGraphicFramePr>
        <p:xfrm>
          <a:off x="365760" y="1051560"/>
          <a:ext cx="56692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rend notes"/>
          <p:cNvSpPr txBox="1"/>
          <p:nvPr/>
        </p:nvSpPr>
        <p:spPr>
          <a:xfrm>
            <a:off x="6217920" y="1280160"/>
            <a:ext cx="2468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month: ₹11.5M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Peak: March at ₹13.1M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Trough: September at ₹9.2M, about 21% below average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Recovery from October onward, driven by order volume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Customer segmentation: 20% of customers drive 48% of revenue</a:t>
            </a:r>
            <a:endParaRPr lang="en-US" dirty="0"/>
          </a:p>
        </p:txBody>
      </p:sp>
      <p:graphicFrame>
        <p:nvGraphicFramePr>
          <p:cNvPr id="3" name="Segment chart" descr=""/>
          <p:cNvGraphicFramePr/>
          <p:nvPr/>
        </p:nvGraphicFramePr>
        <p:xfrm>
          <a:off x="365760" y="1051560"/>
          <a:ext cx="53035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egment notes"/>
          <p:cNvSpPr txBox="1"/>
          <p:nvPr/>
        </p:nvSpPr>
        <p:spPr>
          <a:xfrm>
            <a:off x="5852160" y="128016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Segments are based on each customer's lifetime spend (top 20% / middle 40% / bottom 40%)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High Value: 190 customers, ₹66.4M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Low Value: 40% of customers, only 11% of revenue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5% of customers repeat-purchase: retention is the open opportunity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Product and market analysis</a:t>
            </a:r>
            <a:endParaRPr lang="en-US" dirty="0"/>
          </a:p>
        </p:txBody>
      </p:sp>
      <p:graphicFrame>
        <p:nvGraphicFramePr>
          <p:cNvPr id="3" name="Category chart" descr=""/>
          <p:cNvGraphicFramePr/>
          <p:nvPr/>
        </p:nvGraphicFramePr>
        <p:xfrm>
          <a:off x="365760" y="100584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ity chart" descr=""/>
          <p:cNvGraphicFramePr/>
          <p:nvPr/>
        </p:nvGraphicFramePr>
        <p:xfrm>
          <a:off x="4572000" y="1005840"/>
          <a:ext cx="420624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Product takeaway"/>
          <p:cNvSpPr txBox="1"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Electronics leads on volume, not on order size: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354 orders across two products vs 156 for Fashion. Average order value is ₹143.4K vs ₹127.2K, so is that gap real? Next slide. Top cities: Patna, Kolkata, Bengaluru, Mumbai (all within ₹0.5M).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Statistical testing: is Electronics really bigger?</a:t>
            </a:r>
            <a:endParaRPr lang="en-US" dirty="0"/>
          </a:p>
        </p:txBody>
      </p:sp>
      <p:sp>
        <p:nvSpPr>
          <p:cNvPr id="3" name="p card"/>
          <p:cNvSpPr/>
          <p:nvPr/>
        </p:nvSpPr>
        <p:spPr>
          <a:xfrm>
            <a:off x="457200" y="1051560"/>
            <a:ext cx="26517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 accent"/>
          <p:cNvSpPr/>
          <p:nvPr/>
        </p:nvSpPr>
        <p:spPr>
          <a:xfrm>
            <a:off x="457200" y="1051560"/>
            <a:ext cx="73152" cy="914400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5" name="p value"/>
          <p:cNvSpPr txBox="1"/>
          <p:nvPr/>
        </p:nvSpPr>
        <p:spPr>
          <a:xfrm>
            <a:off x="685800" y="1124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 = 0.061</a:t>
            </a:r>
            <a:endParaRPr lang="en-US" sz="2400" dirty="0"/>
          </a:p>
        </p:txBody>
      </p:sp>
      <p:sp>
        <p:nvSpPr>
          <p:cNvPr id="6" name="p label"/>
          <p:cNvSpPr txBox="1"/>
          <p:nvPr/>
        </p:nvSpPr>
        <p:spPr>
          <a:xfrm>
            <a:off x="68580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Welch t = 1.55, df = 329 (one-sided)</a:t>
            </a:r>
            <a:endParaRPr lang="en-US" sz="1200" dirty="0"/>
          </a:p>
        </p:txBody>
      </p:sp>
      <p:sp>
        <p:nvSpPr>
          <p:cNvPr id="7" name="d card"/>
          <p:cNvSpPr/>
          <p:nvPr/>
        </p:nvSpPr>
        <p:spPr>
          <a:xfrm>
            <a:off x="3246120" y="1051560"/>
            <a:ext cx="26517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d accent"/>
          <p:cNvSpPr/>
          <p:nvPr/>
        </p:nvSpPr>
        <p:spPr>
          <a:xfrm>
            <a:off x="3246120" y="1051560"/>
            <a:ext cx="73152" cy="91440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9" name="d value"/>
          <p:cNvSpPr txBox="1"/>
          <p:nvPr/>
        </p:nvSpPr>
        <p:spPr>
          <a:xfrm>
            <a:off x="3474720" y="1124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+₹16.3K</a:t>
            </a:r>
            <a:endParaRPr lang="en-US" sz="2400" dirty="0"/>
          </a:p>
        </p:txBody>
      </p:sp>
      <p:sp>
        <p:nvSpPr>
          <p:cNvPr id="10" name="d label"/>
          <p:cNvSpPr txBox="1"/>
          <p:nvPr/>
        </p:nvSpPr>
        <p:spPr>
          <a:xfrm>
            <a:off x="347472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Electronics − Fashion mean (+12.8%)</a:t>
            </a:r>
            <a:endParaRPr lang="en-US" sz="1200" dirty="0"/>
          </a:p>
        </p:txBody>
      </p:sp>
      <p:sp>
        <p:nvSpPr>
          <p:cNvPr id="11" name="ci card"/>
          <p:cNvSpPr/>
          <p:nvPr/>
        </p:nvSpPr>
        <p:spPr>
          <a:xfrm>
            <a:off x="6035040" y="1051560"/>
            <a:ext cx="2651760" cy="9144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ci accent"/>
          <p:cNvSpPr/>
          <p:nvPr/>
        </p:nvSpPr>
        <p:spPr>
          <a:xfrm>
            <a:off x="6035040" y="1051560"/>
            <a:ext cx="73152" cy="9144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3" name="ci value"/>
          <p:cNvSpPr txBox="1"/>
          <p:nvPr/>
        </p:nvSpPr>
        <p:spPr>
          <a:xfrm>
            <a:off x="6263640" y="112471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−₹4.3K to +₹36.9K</a:t>
            </a:r>
            <a:endParaRPr lang="en-US" sz="2400" dirty="0"/>
          </a:p>
        </p:txBody>
      </p:sp>
      <p:sp>
        <p:nvSpPr>
          <p:cNvPr id="14" name="ci label"/>
          <p:cNvSpPr txBox="1"/>
          <p:nvPr/>
        </p:nvSpPr>
        <p:spPr>
          <a:xfrm>
            <a:off x="6263640" y="16002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95% CI for the difference</a:t>
            </a:r>
            <a:endParaRPr lang="en-US" sz="1200" dirty="0"/>
          </a:p>
        </p:txBody>
      </p:sp>
      <p:pic>
        <p:nvPicPr>
          <p:cNvPr id="15" name="Hypothesis chart" descr="Order value distributions and mean confidence intervals for Electronics and Fash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148840"/>
            <a:ext cx="5303520" cy="2020824"/>
          </a:xfrm>
          <a:prstGeom prst="rect">
            <a:avLst/>
          </a:prstGeom>
        </p:spPr>
      </p:pic>
      <p:sp>
        <p:nvSpPr>
          <p:cNvPr id="16" name="Test interpretation"/>
          <p:cNvSpPr txBox="1"/>
          <p:nvPr/>
        </p:nvSpPr>
        <p:spPr>
          <a:xfrm>
            <a:off x="5943600" y="2148840"/>
            <a:ext cx="2743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H0: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means are equal.  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tx2"/>
                </a:solidFill>
              </a:rPr>
              <a:t>H1: 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Electronics &gt; Fashion.  α = 0.05.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4"/>
                </a:solidFill>
              </a:rPr>
              <a:t>Decision: Fail to reject H0.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 The gap is within sampling noise (Mann–Whitney p = 0.12; the CI includes 0). About 606 orders per category would be needed to confirm an effect this size.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Business recommendations</a:t>
            </a:r>
            <a:endParaRPr lang="en-US" dirty="0"/>
          </a:p>
        </p:txBody>
      </p:sp>
      <p:sp>
        <p:nvSpPr>
          <p:cNvPr id="3" name="Rec card 1"/>
          <p:cNvSpPr/>
          <p:nvPr/>
        </p:nvSpPr>
        <p:spPr>
          <a:xfrm>
            <a:off x="457200" y="1143000"/>
            <a:ext cx="26517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c accent 1"/>
          <p:cNvSpPr/>
          <p:nvPr/>
        </p:nvSpPr>
        <p:spPr>
          <a:xfrm>
            <a:off x="457200" y="1143000"/>
            <a:ext cx="2651760" cy="64008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</p:spPr>
      </p:sp>
      <p:sp>
        <p:nvSpPr>
          <p:cNvPr id="5" name="Rec text 1"/>
          <p:cNvSpPr txBox="1"/>
          <p:nvPr/>
        </p:nvSpPr>
        <p:spPr>
          <a:xfrm>
            <a:off x="594360" y="13258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1. Retain high-value customers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Insight: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20% of customers give 48% of revenue, and only 5% ever reorder.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Action &amp; impact: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Loyalty offers and reorder nudges. Illustrative: repeat rate 5% to 10% adds about ₹6.6M (+4.7%).</a:t>
            </a:r>
            <a:endParaRPr lang="en-US" sz="1400" dirty="0"/>
          </a:p>
        </p:txBody>
      </p:sp>
      <p:sp>
        <p:nvSpPr>
          <p:cNvPr id="6" name="Rec card 2"/>
          <p:cNvSpPr/>
          <p:nvPr/>
        </p:nvSpPr>
        <p:spPr>
          <a:xfrm>
            <a:off x="3291840" y="1143000"/>
            <a:ext cx="26517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Rec accent 2"/>
          <p:cNvSpPr/>
          <p:nvPr/>
        </p:nvSpPr>
        <p:spPr>
          <a:xfrm>
            <a:off x="3291840" y="1143000"/>
            <a:ext cx="2651760" cy="6400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Rec text 2"/>
          <p:cNvSpPr txBox="1"/>
          <p:nvPr/>
        </p:nvSpPr>
        <p:spPr>
          <a:xfrm>
            <a:off x="3429000" y="13258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2. Fix the Aug–Sep dip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Insight: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Revenue fell to ₹9.4M and ₹9.2M vs a ₹11.5M average.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Action &amp; impact: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Run targeted promotions in these months. Lifting both to average adds about ₹4.5M.</a:t>
            </a:r>
            <a:endParaRPr lang="en-US" sz="1400" dirty="0"/>
          </a:p>
        </p:txBody>
      </p:sp>
      <p:sp>
        <p:nvSpPr>
          <p:cNvPr id="9" name="Rec card 3"/>
          <p:cNvSpPr/>
          <p:nvPr/>
        </p:nvSpPr>
        <p:spPr>
          <a:xfrm>
            <a:off x="6126480" y="1143000"/>
            <a:ext cx="2651760" cy="3429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Rec accent 3"/>
          <p:cNvSpPr/>
          <p:nvPr/>
        </p:nvSpPr>
        <p:spPr>
          <a:xfrm>
            <a:off x="6126480" y="1143000"/>
            <a:ext cx="2651760" cy="64008"/>
          </a:xfrm>
          <a:prstGeom prst="rect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1" name="Rec text 3"/>
          <p:cNvSpPr txBox="1"/>
          <p:nvPr/>
        </p:nvSpPr>
        <p:spPr>
          <a:xfrm>
            <a:off x="6263640" y="13258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3. Back Electronics by volume, not price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Insight: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Its revenue lead comes from order count; order size is not proven higher.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chemeClr val="tx1"/>
                </a:solidFill>
              </a:rPr>
              <a:t>Action &amp; impact: </a:t>
            </a:r>
            <a:pPr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Keep Laptop/Mobile stock and marketing strong; avoid premium pricing assumptions until more data confirms.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Conclusion</a:t>
            </a:r>
            <a:endParaRPr lang="en-US" dirty="0"/>
          </a:p>
        </p:txBody>
      </p:sp>
      <p:sp>
        <p:nvSpPr>
          <p:cNvPr id="3" name="Conclusion bullets"/>
          <p:cNvSpPr txBox="1"/>
          <p:nvPr/>
        </p:nvSpPr>
        <p:spPr>
          <a:xfrm>
            <a:off x="457200" y="118872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business earned ₹139.4M from 1,000 orders; Electronics is the largest category at 36% of revenue.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Statistically, Electronics' higher average order value (+12.8%) is not significant at the 5% level (p = 0.061): we fail to reject H0.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real levers are retention of high-value customers and smoothing the Aug–Sep dip.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Next step: collect more orders (about 606 per category) and re-test.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Thank you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Questions and feedback welcome  |  Code, charts and report on GitHub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ApexPlanet Task 4 - Data Storytelling &amp; Statistical Validation</dc:title>
  <dc:subject>PptxGenJS Presentation</dc:subject>
  <dc:creator>PptxGenJS</dc:creator>
  <cp:lastModifiedBy>PptxGenJS</cp:lastModifiedBy>
  <cp:revision>1</cp:revision>
  <dcterms:created xsi:type="dcterms:W3CDTF">2026-10-07T08:37:55Z</dcterms:created>
  <dcterms:modified xsi:type="dcterms:W3CDTF">2026-10-07T08:37:55Z</dcterms:modified>
</cp:coreProperties>
</file>